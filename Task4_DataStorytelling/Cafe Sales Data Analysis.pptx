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p:scale>
          <a:sx n="66" d="100"/>
          <a:sy n="66" d="100"/>
        </p:scale>
        <p:origin x="1282" y="6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LEBOINA KRANTHI" userId="975d25cb809f0576" providerId="LiveId" clId="{7CD90653-EF3D-449F-B47B-78744F9023C6}"/>
    <pc:docChg chg="custSel modSld">
      <pc:chgData name="MALLEBOINA KRANTHI" userId="975d25cb809f0576" providerId="LiveId" clId="{7CD90653-EF3D-449F-B47B-78744F9023C6}" dt="2026-07-19T11:01:54.151" v="11" actId="207"/>
      <pc:docMkLst>
        <pc:docMk/>
      </pc:docMkLst>
      <pc:sldChg chg="modSp mod">
        <pc:chgData name="MALLEBOINA KRANTHI" userId="975d25cb809f0576" providerId="LiveId" clId="{7CD90653-EF3D-449F-B47B-78744F9023C6}" dt="2026-07-19T11:01:02.542" v="9" actId="255"/>
        <pc:sldMkLst>
          <pc:docMk/>
          <pc:sldMk cId="1973311319" sldId="256"/>
        </pc:sldMkLst>
        <pc:spChg chg="mod">
          <ac:chgData name="MALLEBOINA KRANTHI" userId="975d25cb809f0576" providerId="LiveId" clId="{7CD90653-EF3D-449F-B47B-78744F9023C6}" dt="2026-07-19T11:01:02.542" v="9" actId="255"/>
          <ac:spMkLst>
            <pc:docMk/>
            <pc:sldMk cId="1973311319" sldId="256"/>
            <ac:spMk id="3" creationId="{B5BBE8FF-7759-F22E-287A-0989DF870D78}"/>
          </ac:spMkLst>
        </pc:spChg>
      </pc:sldChg>
      <pc:sldChg chg="modSp mod">
        <pc:chgData name="MALLEBOINA KRANTHI" userId="975d25cb809f0576" providerId="LiveId" clId="{7CD90653-EF3D-449F-B47B-78744F9023C6}" dt="2026-07-19T11:01:43.810" v="10" actId="207"/>
        <pc:sldMkLst>
          <pc:docMk/>
          <pc:sldMk cId="3382872595" sldId="257"/>
        </pc:sldMkLst>
        <pc:spChg chg="mod">
          <ac:chgData name="MALLEBOINA KRANTHI" userId="975d25cb809f0576" providerId="LiveId" clId="{7CD90653-EF3D-449F-B47B-78744F9023C6}" dt="2026-07-19T11:01:43.810" v="10" actId="207"/>
          <ac:spMkLst>
            <pc:docMk/>
            <pc:sldMk cId="3382872595" sldId="257"/>
            <ac:spMk id="3" creationId="{5C67E146-A67F-B462-EAFD-1670C12E4400}"/>
          </ac:spMkLst>
        </pc:spChg>
      </pc:sldChg>
      <pc:sldChg chg="modSp mod">
        <pc:chgData name="MALLEBOINA KRANTHI" userId="975d25cb809f0576" providerId="LiveId" clId="{7CD90653-EF3D-449F-B47B-78744F9023C6}" dt="2026-07-19T11:01:54.151" v="11" actId="207"/>
        <pc:sldMkLst>
          <pc:docMk/>
          <pc:sldMk cId="1650997906" sldId="258"/>
        </pc:sldMkLst>
        <pc:spChg chg="mod">
          <ac:chgData name="MALLEBOINA KRANTHI" userId="975d25cb809f0576" providerId="LiveId" clId="{7CD90653-EF3D-449F-B47B-78744F9023C6}" dt="2026-07-19T11:01:54.151" v="11" actId="207"/>
          <ac:spMkLst>
            <pc:docMk/>
            <pc:sldMk cId="1650997906" sldId="258"/>
            <ac:spMk id="3" creationId="{78760CAD-34A0-2061-5FAA-DC79B619989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086D2D-71C3-470F-A6BA-A364C736FE0B}" type="datetimeFigureOut">
              <a:rPr lang="en-IN" smtClean="0"/>
              <a:t>19-07-2026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36BBBE-8983-4C6A-9943-492878DF0D1A}" type="slidenum">
              <a:rPr lang="en-IN" smtClean="0"/>
              <a:t>‹#›</a:t>
            </a:fld>
            <a:endParaRPr lang="en-IN"/>
          </a:p>
        </p:txBody>
      </p:sp>
    </p:spTree>
    <p:extLst>
      <p:ext uri="{BB962C8B-B14F-4D97-AF65-F5344CB8AC3E}">
        <p14:creationId xmlns:p14="http://schemas.microsoft.com/office/powerpoint/2010/main" val="944974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F5ABA5A-B575-462B-8B92-F3EACA8EACCA}"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8329EB-9B0B-4DAD-A344-3E0B9F58C551}" type="slidenum">
              <a:rPr lang="en-IN" smtClean="0"/>
              <a:t>‹#›</a:t>
            </a:fld>
            <a:endParaRPr lang="en-IN"/>
          </a:p>
        </p:txBody>
      </p:sp>
    </p:spTree>
    <p:extLst>
      <p:ext uri="{BB962C8B-B14F-4D97-AF65-F5344CB8AC3E}">
        <p14:creationId xmlns:p14="http://schemas.microsoft.com/office/powerpoint/2010/main" val="1219165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5ABA5A-B575-462B-8B92-F3EACA8EACCA}"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8329EB-9B0B-4DAD-A344-3E0B9F58C551}" type="slidenum">
              <a:rPr lang="en-IN" smtClean="0"/>
              <a:t>‹#›</a:t>
            </a:fld>
            <a:endParaRPr lang="en-IN"/>
          </a:p>
        </p:txBody>
      </p:sp>
    </p:spTree>
    <p:extLst>
      <p:ext uri="{BB962C8B-B14F-4D97-AF65-F5344CB8AC3E}">
        <p14:creationId xmlns:p14="http://schemas.microsoft.com/office/powerpoint/2010/main" val="2799492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5ABA5A-B575-462B-8B92-F3EACA8EACCA}"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8329EB-9B0B-4DAD-A344-3E0B9F58C551}" type="slidenum">
              <a:rPr lang="en-IN" smtClean="0"/>
              <a:t>‹#›</a:t>
            </a:fld>
            <a:endParaRPr lang="en-IN"/>
          </a:p>
        </p:txBody>
      </p:sp>
    </p:spTree>
    <p:extLst>
      <p:ext uri="{BB962C8B-B14F-4D97-AF65-F5344CB8AC3E}">
        <p14:creationId xmlns:p14="http://schemas.microsoft.com/office/powerpoint/2010/main" val="2254679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F5ABA5A-B575-462B-8B92-F3EACA8EACCA}" type="datetimeFigureOut">
              <a:rPr lang="en-IN" smtClean="0"/>
              <a:t>19-07-2026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E8329EB-9B0B-4DAD-A344-3E0B9F58C551}" type="slidenum">
              <a:rPr lang="en-IN" smtClean="0"/>
              <a:t>‹#›</a:t>
            </a:fld>
            <a:endParaRPr lang="en-IN"/>
          </a:p>
        </p:txBody>
      </p:sp>
    </p:spTree>
    <p:extLst>
      <p:ext uri="{BB962C8B-B14F-4D97-AF65-F5344CB8AC3E}">
        <p14:creationId xmlns:p14="http://schemas.microsoft.com/office/powerpoint/2010/main" val="3563738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F5ABA5A-B575-462B-8B92-F3EACA8EACCA}" type="datetimeFigureOut">
              <a:rPr lang="en-IN" smtClean="0"/>
              <a:t>19-07-2026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E8329EB-9B0B-4DAD-A344-3E0B9F58C551}" type="slidenum">
              <a:rPr lang="en-IN" smtClean="0"/>
              <a:t>‹#›</a:t>
            </a:fld>
            <a:endParaRPr lang="en-IN"/>
          </a:p>
        </p:txBody>
      </p:sp>
    </p:spTree>
    <p:extLst>
      <p:ext uri="{BB962C8B-B14F-4D97-AF65-F5344CB8AC3E}">
        <p14:creationId xmlns:p14="http://schemas.microsoft.com/office/powerpoint/2010/main" val="4060224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5ABA5A-B575-462B-8B92-F3EACA8EACCA}" type="datetimeFigureOut">
              <a:rPr lang="en-IN" smtClean="0"/>
              <a:t>19-07-2026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E8329EB-9B0B-4DAD-A344-3E0B9F58C551}" type="slidenum">
              <a:rPr lang="en-IN" smtClean="0"/>
              <a:t>‹#›</a:t>
            </a:fld>
            <a:endParaRPr lang="en-IN"/>
          </a:p>
        </p:txBody>
      </p:sp>
    </p:spTree>
    <p:extLst>
      <p:ext uri="{BB962C8B-B14F-4D97-AF65-F5344CB8AC3E}">
        <p14:creationId xmlns:p14="http://schemas.microsoft.com/office/powerpoint/2010/main" val="1313231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5ABA5A-B575-462B-8B92-F3EACA8EACCA}" type="datetimeFigureOut">
              <a:rPr lang="en-IN" smtClean="0"/>
              <a:t>19-07-2026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E8329EB-9B0B-4DAD-A344-3E0B9F58C551}" type="slidenum">
              <a:rPr lang="en-IN" smtClean="0"/>
              <a:t>‹#›</a:t>
            </a:fld>
            <a:endParaRPr lang="en-IN"/>
          </a:p>
        </p:txBody>
      </p:sp>
    </p:spTree>
    <p:extLst>
      <p:ext uri="{BB962C8B-B14F-4D97-AF65-F5344CB8AC3E}">
        <p14:creationId xmlns:p14="http://schemas.microsoft.com/office/powerpoint/2010/main" val="4051437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5ABA5A-B575-462B-8B92-F3EACA8EACCA}" type="datetimeFigureOut">
              <a:rPr lang="en-IN" smtClean="0"/>
              <a:t>19-07-2026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E8329EB-9B0B-4DAD-A344-3E0B9F58C551}" type="slidenum">
              <a:rPr lang="en-IN" smtClean="0"/>
              <a:t>‹#›</a:t>
            </a:fld>
            <a:endParaRPr lang="en-IN"/>
          </a:p>
        </p:txBody>
      </p:sp>
    </p:spTree>
    <p:extLst>
      <p:ext uri="{BB962C8B-B14F-4D97-AF65-F5344CB8AC3E}">
        <p14:creationId xmlns:p14="http://schemas.microsoft.com/office/powerpoint/2010/main" val="1546927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5ABA5A-B575-462B-8B92-F3EACA8EACCA}" type="datetimeFigureOut">
              <a:rPr lang="en-IN" smtClean="0"/>
              <a:t>19-07-2026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E8329EB-9B0B-4DAD-A344-3E0B9F58C551}" type="slidenum">
              <a:rPr lang="en-IN" smtClean="0"/>
              <a:t>‹#›</a:t>
            </a:fld>
            <a:endParaRPr lang="en-IN"/>
          </a:p>
        </p:txBody>
      </p:sp>
    </p:spTree>
    <p:extLst>
      <p:ext uri="{BB962C8B-B14F-4D97-AF65-F5344CB8AC3E}">
        <p14:creationId xmlns:p14="http://schemas.microsoft.com/office/powerpoint/2010/main" val="1095026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5ABA5A-B575-462B-8B92-F3EACA8EACCA}"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8329EB-9B0B-4DAD-A344-3E0B9F58C551}" type="slidenum">
              <a:rPr lang="en-IN" smtClean="0"/>
              <a:t>‹#›</a:t>
            </a:fld>
            <a:endParaRPr lang="en-IN"/>
          </a:p>
        </p:txBody>
      </p:sp>
    </p:spTree>
    <p:extLst>
      <p:ext uri="{BB962C8B-B14F-4D97-AF65-F5344CB8AC3E}">
        <p14:creationId xmlns:p14="http://schemas.microsoft.com/office/powerpoint/2010/main" val="3916729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5ABA5A-B575-462B-8B92-F3EACA8EACCA}"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8329EB-9B0B-4DAD-A344-3E0B9F58C551}"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7175404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5ABA5A-B575-462B-8B92-F3EACA8EACCA}"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8329EB-9B0B-4DAD-A344-3E0B9F58C551}" type="slidenum">
              <a:rPr lang="en-IN" smtClean="0"/>
              <a:t>‹#›</a:t>
            </a:fld>
            <a:endParaRPr lang="en-IN"/>
          </a:p>
        </p:txBody>
      </p:sp>
    </p:spTree>
    <p:extLst>
      <p:ext uri="{BB962C8B-B14F-4D97-AF65-F5344CB8AC3E}">
        <p14:creationId xmlns:p14="http://schemas.microsoft.com/office/powerpoint/2010/main" val="40308371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5ABA5A-B575-462B-8B92-F3EACA8EACCA}"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8329EB-9B0B-4DAD-A344-3E0B9F58C551}"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602572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5ABA5A-B575-462B-8B92-F3EACA8EACCA}"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8329EB-9B0B-4DAD-A344-3E0B9F58C551}" type="slidenum">
              <a:rPr lang="en-IN" smtClean="0"/>
              <a:t>‹#›</a:t>
            </a:fld>
            <a:endParaRPr lang="en-IN"/>
          </a:p>
        </p:txBody>
      </p:sp>
    </p:spTree>
    <p:extLst>
      <p:ext uri="{BB962C8B-B14F-4D97-AF65-F5344CB8AC3E}">
        <p14:creationId xmlns:p14="http://schemas.microsoft.com/office/powerpoint/2010/main" val="21464693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5ABA5A-B575-462B-8B92-F3EACA8EACCA}"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8329EB-9B0B-4DAD-A344-3E0B9F58C551}" type="slidenum">
              <a:rPr lang="en-IN" smtClean="0"/>
              <a:t>‹#›</a:t>
            </a:fld>
            <a:endParaRPr lang="en-IN"/>
          </a:p>
        </p:txBody>
      </p:sp>
    </p:spTree>
    <p:extLst>
      <p:ext uri="{BB962C8B-B14F-4D97-AF65-F5344CB8AC3E}">
        <p14:creationId xmlns:p14="http://schemas.microsoft.com/office/powerpoint/2010/main" val="34635707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5ABA5A-B575-462B-8B92-F3EACA8EACCA}"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8329EB-9B0B-4DAD-A344-3E0B9F58C551}" type="slidenum">
              <a:rPr lang="en-IN" smtClean="0"/>
              <a:t>‹#›</a:t>
            </a:fld>
            <a:endParaRPr lang="en-IN"/>
          </a:p>
        </p:txBody>
      </p:sp>
    </p:spTree>
    <p:extLst>
      <p:ext uri="{BB962C8B-B14F-4D97-AF65-F5344CB8AC3E}">
        <p14:creationId xmlns:p14="http://schemas.microsoft.com/office/powerpoint/2010/main" val="754913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F5ABA5A-B575-462B-8B92-F3EACA8EACCA}" type="datetimeFigureOut">
              <a:rPr lang="en-IN" smtClean="0"/>
              <a:t>19-07-2026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E8329EB-9B0B-4DAD-A344-3E0B9F58C551}" type="slidenum">
              <a:rPr lang="en-IN" smtClean="0"/>
              <a:t>‹#›</a:t>
            </a:fld>
            <a:endParaRPr lang="en-IN"/>
          </a:p>
        </p:txBody>
      </p:sp>
    </p:spTree>
    <p:extLst>
      <p:ext uri="{BB962C8B-B14F-4D97-AF65-F5344CB8AC3E}">
        <p14:creationId xmlns:p14="http://schemas.microsoft.com/office/powerpoint/2010/main" val="3880105071"/>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7E43A-2769-9D15-2F75-0DBF1D1E3653}"/>
              </a:ext>
            </a:extLst>
          </p:cNvPr>
          <p:cNvSpPr>
            <a:spLocks noGrp="1"/>
          </p:cNvSpPr>
          <p:nvPr>
            <p:ph type="ctrTitle"/>
          </p:nvPr>
        </p:nvSpPr>
        <p:spPr>
          <a:xfrm>
            <a:off x="1524000" y="73739"/>
            <a:ext cx="9144000" cy="2387600"/>
          </a:xfrm>
        </p:spPr>
        <p:txBody>
          <a:bodyPr>
            <a:normAutofit/>
          </a:bodyPr>
          <a:lstStyle/>
          <a:p>
            <a:r>
              <a:rPr lang="en-IN" b="1" dirty="0"/>
              <a:t>Cafe Sales Data Analysis</a:t>
            </a:r>
            <a:br>
              <a:rPr lang="en-IN" b="1" dirty="0"/>
            </a:br>
            <a:endParaRPr lang="en-IN" dirty="0"/>
          </a:p>
        </p:txBody>
      </p:sp>
      <p:sp>
        <p:nvSpPr>
          <p:cNvPr id="3" name="Subtitle 2">
            <a:extLst>
              <a:ext uri="{FF2B5EF4-FFF2-40B4-BE49-F238E27FC236}">
                <a16:creationId xmlns:a16="http://schemas.microsoft.com/office/drawing/2014/main" id="{B5BBE8FF-7759-F22E-287A-0989DF870D78}"/>
              </a:ext>
            </a:extLst>
          </p:cNvPr>
          <p:cNvSpPr>
            <a:spLocks noGrp="1"/>
          </p:cNvSpPr>
          <p:nvPr>
            <p:ph type="subTitle" idx="1"/>
          </p:nvPr>
        </p:nvSpPr>
        <p:spPr>
          <a:xfrm>
            <a:off x="475375" y="1590361"/>
            <a:ext cx="11369880" cy="4986607"/>
          </a:xfrm>
        </p:spPr>
        <p:txBody>
          <a:bodyPr>
            <a:normAutofit fontScale="92500" lnSpcReduction="20000"/>
          </a:bodyPr>
          <a:lstStyle/>
          <a:p>
            <a:pPr algn="ctr"/>
            <a:r>
              <a:rPr lang="en-IN" sz="2600" b="1" dirty="0">
                <a:solidFill>
                  <a:schemeClr val="tx1">
                    <a:lumMod val="95000"/>
                    <a:lumOff val="5000"/>
                  </a:schemeClr>
                </a:solidFill>
              </a:rPr>
              <a:t>Data Storytelling &amp; Statistical Validation</a:t>
            </a:r>
          </a:p>
          <a:p>
            <a:pPr algn="ctr"/>
            <a:r>
              <a:rPr lang="en-IN" sz="2200" b="1" dirty="0">
                <a:solidFill>
                  <a:schemeClr val="tx1">
                    <a:lumMod val="95000"/>
                    <a:lumOff val="5000"/>
                  </a:schemeClr>
                </a:solidFill>
              </a:rPr>
              <a:t>Internship Project Submission</a:t>
            </a:r>
            <a:endParaRPr lang="en-IN" sz="2200" dirty="0">
              <a:solidFill>
                <a:schemeClr val="tx1">
                  <a:lumMod val="95000"/>
                  <a:lumOff val="5000"/>
                </a:schemeClr>
              </a:solidFill>
            </a:endParaRPr>
          </a:p>
          <a:p>
            <a:pPr algn="ctr"/>
            <a:r>
              <a:rPr lang="en-IN" sz="2200" b="1" dirty="0">
                <a:solidFill>
                  <a:schemeClr val="tx1">
                    <a:lumMod val="95000"/>
                    <a:lumOff val="5000"/>
                  </a:schemeClr>
                </a:solidFill>
              </a:rPr>
              <a:t>Submitted by:</a:t>
            </a:r>
            <a:br>
              <a:rPr lang="en-IN" sz="2200" dirty="0">
                <a:solidFill>
                  <a:schemeClr val="tx1">
                    <a:lumMod val="95000"/>
                    <a:lumOff val="5000"/>
                  </a:schemeClr>
                </a:solidFill>
              </a:rPr>
            </a:br>
            <a:r>
              <a:rPr lang="en-IN" b="1" dirty="0">
                <a:solidFill>
                  <a:schemeClr val="tx1">
                    <a:lumMod val="95000"/>
                    <a:lumOff val="5000"/>
                  </a:schemeClr>
                </a:solidFill>
              </a:rPr>
              <a:t>Kranthi </a:t>
            </a:r>
            <a:r>
              <a:rPr lang="en-IN" b="1" dirty="0" err="1">
                <a:solidFill>
                  <a:schemeClr val="tx1">
                    <a:lumMod val="95000"/>
                    <a:lumOff val="5000"/>
                  </a:schemeClr>
                </a:solidFill>
              </a:rPr>
              <a:t>Malleboina</a:t>
            </a:r>
            <a:endParaRPr lang="en-IN" dirty="0">
              <a:solidFill>
                <a:schemeClr val="tx1">
                  <a:lumMod val="95000"/>
                  <a:lumOff val="5000"/>
                </a:schemeClr>
              </a:solidFill>
            </a:endParaRPr>
          </a:p>
          <a:p>
            <a:pPr algn="ctr"/>
            <a:r>
              <a:rPr lang="en-IN" sz="2200" b="1" dirty="0">
                <a:solidFill>
                  <a:schemeClr val="tx1">
                    <a:lumMod val="95000"/>
                    <a:lumOff val="5000"/>
                  </a:schemeClr>
                </a:solidFill>
              </a:rPr>
              <a:t>Internship Organization</a:t>
            </a:r>
            <a:r>
              <a:rPr lang="en-IN" b="1" dirty="0">
                <a:solidFill>
                  <a:schemeClr val="tx1">
                    <a:lumMod val="95000"/>
                    <a:lumOff val="5000"/>
                  </a:schemeClr>
                </a:solidFill>
              </a:rPr>
              <a:t>:</a:t>
            </a:r>
            <a:br>
              <a:rPr lang="en-IN" dirty="0">
                <a:solidFill>
                  <a:schemeClr val="tx1">
                    <a:lumMod val="95000"/>
                    <a:lumOff val="5000"/>
                  </a:schemeClr>
                </a:solidFill>
              </a:rPr>
            </a:br>
            <a:r>
              <a:rPr lang="en-IN" dirty="0" err="1">
                <a:solidFill>
                  <a:schemeClr val="tx1">
                    <a:lumMod val="95000"/>
                    <a:lumOff val="5000"/>
                  </a:schemeClr>
                </a:solidFill>
              </a:rPr>
              <a:t>ApexPlanet</a:t>
            </a:r>
            <a:r>
              <a:rPr lang="en-IN" dirty="0">
                <a:solidFill>
                  <a:schemeClr val="tx1">
                    <a:lumMod val="95000"/>
                    <a:lumOff val="5000"/>
                  </a:schemeClr>
                </a:solidFill>
              </a:rPr>
              <a:t> Software </a:t>
            </a:r>
            <a:r>
              <a:rPr lang="en-IN" dirty="0" err="1">
                <a:solidFill>
                  <a:schemeClr val="tx1">
                    <a:lumMod val="95000"/>
                    <a:lumOff val="5000"/>
                  </a:schemeClr>
                </a:solidFill>
              </a:rPr>
              <a:t>Pvt.</a:t>
            </a:r>
            <a:r>
              <a:rPr lang="en-IN" dirty="0">
                <a:solidFill>
                  <a:schemeClr val="tx1">
                    <a:lumMod val="95000"/>
                    <a:lumOff val="5000"/>
                  </a:schemeClr>
                </a:solidFill>
              </a:rPr>
              <a:t> Ltd.</a:t>
            </a:r>
          </a:p>
          <a:p>
            <a:pPr algn="ctr"/>
            <a:r>
              <a:rPr lang="en-IN" sz="2200" b="1" dirty="0">
                <a:solidFill>
                  <a:schemeClr val="tx1">
                    <a:lumMod val="95000"/>
                    <a:lumOff val="5000"/>
                  </a:schemeClr>
                </a:solidFill>
              </a:rPr>
              <a:t>Task:</a:t>
            </a:r>
            <a:r>
              <a:rPr lang="en-IN" dirty="0">
                <a:solidFill>
                  <a:schemeClr val="tx1">
                    <a:lumMod val="95000"/>
                    <a:lumOff val="5000"/>
                  </a:schemeClr>
                </a:solidFill>
              </a:rPr>
              <a:t> Task 4 – Data Storytelling &amp; Statistical Validation</a:t>
            </a:r>
          </a:p>
          <a:p>
            <a:pPr algn="ctr"/>
            <a:r>
              <a:rPr lang="en-IN" sz="2200" b="1" dirty="0">
                <a:solidFill>
                  <a:schemeClr val="tx1">
                    <a:lumMod val="95000"/>
                    <a:lumOff val="5000"/>
                  </a:schemeClr>
                </a:solidFill>
              </a:rPr>
              <a:t>Dataset Used:</a:t>
            </a:r>
            <a:br>
              <a:rPr lang="en-IN" sz="2200" dirty="0">
                <a:solidFill>
                  <a:schemeClr val="tx1">
                    <a:lumMod val="95000"/>
                    <a:lumOff val="5000"/>
                  </a:schemeClr>
                </a:solidFill>
              </a:rPr>
            </a:br>
            <a:r>
              <a:rPr lang="en-IN" dirty="0">
                <a:solidFill>
                  <a:schemeClr val="tx1">
                    <a:lumMod val="95000"/>
                    <a:lumOff val="5000"/>
                  </a:schemeClr>
                </a:solidFill>
              </a:rPr>
              <a:t>Cleaned Cafe Sales Dataset</a:t>
            </a:r>
          </a:p>
          <a:p>
            <a:pPr algn="ctr"/>
            <a:r>
              <a:rPr lang="en-IN" sz="2200" b="1" dirty="0">
                <a:solidFill>
                  <a:schemeClr val="tx1">
                    <a:lumMod val="95000"/>
                    <a:lumOff val="5000"/>
                  </a:schemeClr>
                </a:solidFill>
              </a:rPr>
              <a:t>Submission Date:</a:t>
            </a:r>
            <a:br>
              <a:rPr lang="en-IN" sz="2200" dirty="0">
                <a:solidFill>
                  <a:schemeClr val="tx1">
                    <a:lumMod val="95000"/>
                    <a:lumOff val="5000"/>
                  </a:schemeClr>
                </a:solidFill>
              </a:rPr>
            </a:br>
            <a:r>
              <a:rPr lang="en-IN" dirty="0">
                <a:solidFill>
                  <a:schemeClr val="tx1">
                    <a:lumMod val="95000"/>
                    <a:lumOff val="5000"/>
                  </a:schemeClr>
                </a:solidFill>
              </a:rPr>
              <a:t>July 2026</a:t>
            </a:r>
          </a:p>
          <a:p>
            <a:pPr algn="ctr"/>
            <a:endParaRPr lang="en-IN" dirty="0">
              <a:solidFill>
                <a:schemeClr val="tx1">
                  <a:lumMod val="95000"/>
                  <a:lumOff val="5000"/>
                </a:schemeClr>
              </a:solidFill>
            </a:endParaRPr>
          </a:p>
          <a:p>
            <a:pPr algn="ctr"/>
            <a:r>
              <a:rPr lang="en-IN" sz="2200" b="1" dirty="0">
                <a:solidFill>
                  <a:schemeClr val="tx1">
                    <a:lumMod val="95000"/>
                    <a:lumOff val="5000"/>
                  </a:schemeClr>
                </a:solidFill>
              </a:rPr>
              <a:t>Short Introduction :</a:t>
            </a:r>
          </a:p>
          <a:p>
            <a:pPr algn="ctr"/>
            <a:r>
              <a:rPr lang="en-IN" dirty="0">
                <a:solidFill>
                  <a:schemeClr val="tx1">
                    <a:lumMod val="95000"/>
                    <a:lumOff val="5000"/>
                  </a:schemeClr>
                </a:solidFill>
              </a:rPr>
              <a:t>This project </a:t>
            </a:r>
            <a:r>
              <a:rPr lang="en-IN" dirty="0" err="1">
                <a:solidFill>
                  <a:schemeClr val="tx1">
                    <a:lumMod val="95000"/>
                    <a:lumOff val="5000"/>
                  </a:schemeClr>
                </a:solidFill>
              </a:rPr>
              <a:t>analyzes</a:t>
            </a:r>
            <a:r>
              <a:rPr lang="en-IN" dirty="0">
                <a:solidFill>
                  <a:schemeClr val="tx1">
                    <a:lumMod val="95000"/>
                    <a:lumOff val="5000"/>
                  </a:schemeClr>
                </a:solidFill>
              </a:rPr>
              <a:t> the Cleaned Cafe Sales Dataset to uncover meaningful business insights through data cleaning, exploratory data analysis, dashboard visualization, and statistical validation. The findings help identify sales trends, customer preferences, and actionable recommendations to improve business performance</a:t>
            </a:r>
          </a:p>
          <a:p>
            <a:endParaRPr lang="en-IN" dirty="0"/>
          </a:p>
        </p:txBody>
      </p:sp>
    </p:spTree>
    <p:extLst>
      <p:ext uri="{BB962C8B-B14F-4D97-AF65-F5344CB8AC3E}">
        <p14:creationId xmlns:p14="http://schemas.microsoft.com/office/powerpoint/2010/main" val="19733113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EEFA3-BF04-2DB9-A97F-E8054259E05E}"/>
              </a:ext>
            </a:extLst>
          </p:cNvPr>
          <p:cNvSpPr>
            <a:spLocks noGrp="1"/>
          </p:cNvSpPr>
          <p:nvPr>
            <p:ph type="title"/>
          </p:nvPr>
        </p:nvSpPr>
        <p:spPr>
          <a:xfrm>
            <a:off x="838200" y="-1426369"/>
            <a:ext cx="10515600" cy="2852737"/>
          </a:xfrm>
        </p:spPr>
        <p:txBody>
          <a:bodyPr>
            <a:normAutofit/>
          </a:bodyPr>
          <a:lstStyle/>
          <a:p>
            <a:pPr algn="ctr"/>
            <a:r>
              <a:rPr lang="en-IN" dirty="0"/>
              <a:t>Project Objective</a:t>
            </a:r>
            <a:br>
              <a:rPr lang="en-IN" dirty="0"/>
            </a:br>
            <a:endParaRPr lang="en-IN" dirty="0"/>
          </a:p>
        </p:txBody>
      </p:sp>
      <p:sp>
        <p:nvSpPr>
          <p:cNvPr id="3" name="Text Placeholder 2">
            <a:extLst>
              <a:ext uri="{FF2B5EF4-FFF2-40B4-BE49-F238E27FC236}">
                <a16:creationId xmlns:a16="http://schemas.microsoft.com/office/drawing/2014/main" id="{5C67E146-A67F-B462-EAFD-1670C12E4400}"/>
              </a:ext>
            </a:extLst>
          </p:cNvPr>
          <p:cNvSpPr>
            <a:spLocks noGrp="1"/>
          </p:cNvSpPr>
          <p:nvPr>
            <p:ph type="body" idx="1"/>
          </p:nvPr>
        </p:nvSpPr>
        <p:spPr>
          <a:xfrm>
            <a:off x="229203" y="923501"/>
            <a:ext cx="11962797" cy="6061820"/>
          </a:xfrm>
        </p:spPr>
        <p:txBody>
          <a:bodyPr>
            <a:normAutofit/>
          </a:bodyPr>
          <a:lstStyle/>
          <a:p>
            <a:endParaRPr lang="en-IN" b="1" dirty="0"/>
          </a:p>
          <a:p>
            <a:r>
              <a:rPr lang="en-IN" dirty="0">
                <a:solidFill>
                  <a:schemeClr val="tx1">
                    <a:lumMod val="85000"/>
                    <a:lumOff val="15000"/>
                  </a:schemeClr>
                </a:solidFill>
              </a:rPr>
              <a:t>The primary objective of this project is to </a:t>
            </a:r>
            <a:r>
              <a:rPr lang="en-IN" dirty="0" err="1">
                <a:solidFill>
                  <a:schemeClr val="tx1">
                    <a:lumMod val="85000"/>
                    <a:lumOff val="15000"/>
                  </a:schemeClr>
                </a:solidFill>
              </a:rPr>
              <a:t>analyze</a:t>
            </a:r>
            <a:r>
              <a:rPr lang="en-IN" dirty="0">
                <a:solidFill>
                  <a:schemeClr val="tx1">
                    <a:lumMod val="85000"/>
                    <a:lumOff val="15000"/>
                  </a:schemeClr>
                </a:solidFill>
              </a:rPr>
              <a:t> the </a:t>
            </a:r>
            <a:r>
              <a:rPr lang="en-IN" b="1" dirty="0">
                <a:solidFill>
                  <a:schemeClr val="tx1">
                    <a:lumMod val="85000"/>
                    <a:lumOff val="15000"/>
                  </a:schemeClr>
                </a:solidFill>
              </a:rPr>
              <a:t>Cleaned Cafe Sales Dataset</a:t>
            </a:r>
            <a:r>
              <a:rPr lang="en-IN" dirty="0">
                <a:solidFill>
                  <a:schemeClr val="tx1">
                    <a:lumMod val="85000"/>
                    <a:lumOff val="15000"/>
                  </a:schemeClr>
                </a:solidFill>
              </a:rPr>
              <a:t> to understand the café's sales performance and identify patterns that support better business decisions. Using data analysis and visualization techniques, the project transforms raw sales data into meaningful insights.</a:t>
            </a:r>
          </a:p>
          <a:p>
            <a:r>
              <a:rPr lang="en-IN" sz="2400" b="1" i="1" dirty="0">
                <a:solidFill>
                  <a:schemeClr val="tx1">
                    <a:lumMod val="85000"/>
                    <a:lumOff val="15000"/>
                  </a:schemeClr>
                </a:solidFill>
              </a:rPr>
              <a:t>Objectives</a:t>
            </a:r>
            <a:endParaRPr lang="en-IN" b="1" i="1" dirty="0">
              <a:solidFill>
                <a:schemeClr val="tx1">
                  <a:lumMod val="85000"/>
                  <a:lumOff val="15000"/>
                </a:schemeClr>
              </a:solidFill>
            </a:endParaRPr>
          </a:p>
          <a:p>
            <a:pPr marL="342900" indent="-342900">
              <a:buFont typeface="Arial" panose="020B0604020202020204" pitchFamily="34" charset="0"/>
              <a:buChar char="•"/>
            </a:pPr>
            <a:r>
              <a:rPr lang="en-IN" dirty="0" err="1">
                <a:solidFill>
                  <a:schemeClr val="tx1">
                    <a:lumMod val="85000"/>
                    <a:lumOff val="15000"/>
                  </a:schemeClr>
                </a:solidFill>
              </a:rPr>
              <a:t>Analyze</a:t>
            </a:r>
            <a:r>
              <a:rPr lang="en-IN" dirty="0">
                <a:solidFill>
                  <a:schemeClr val="tx1">
                    <a:lumMod val="85000"/>
                    <a:lumOff val="15000"/>
                  </a:schemeClr>
                </a:solidFill>
              </a:rPr>
              <a:t> the cleaned café sales data to identify trends and patterns.</a:t>
            </a:r>
          </a:p>
          <a:p>
            <a:pPr marL="342900" indent="-342900">
              <a:buFont typeface="Arial" panose="020B0604020202020204" pitchFamily="34" charset="0"/>
              <a:buChar char="•"/>
            </a:pPr>
            <a:r>
              <a:rPr lang="en-IN" dirty="0">
                <a:solidFill>
                  <a:schemeClr val="tx1">
                    <a:lumMod val="85000"/>
                    <a:lumOff val="15000"/>
                  </a:schemeClr>
                </a:solidFill>
              </a:rPr>
              <a:t>Evaluate the performance of products, sales, and revenue.</a:t>
            </a:r>
          </a:p>
          <a:p>
            <a:pPr marL="342900" indent="-342900">
              <a:buFont typeface="Arial" panose="020B0604020202020204" pitchFamily="34" charset="0"/>
              <a:buChar char="•"/>
            </a:pPr>
            <a:r>
              <a:rPr lang="en-IN" dirty="0">
                <a:solidFill>
                  <a:schemeClr val="tx1">
                    <a:lumMod val="85000"/>
                    <a:lumOff val="15000"/>
                  </a:schemeClr>
                </a:solidFill>
              </a:rPr>
              <a:t>Discover customer purchasing </a:t>
            </a:r>
            <a:r>
              <a:rPr lang="en-IN" dirty="0" err="1">
                <a:solidFill>
                  <a:schemeClr val="tx1">
                    <a:lumMod val="85000"/>
                    <a:lumOff val="15000"/>
                  </a:schemeClr>
                </a:solidFill>
              </a:rPr>
              <a:t>behavior</a:t>
            </a:r>
            <a:r>
              <a:rPr lang="en-IN" dirty="0">
                <a:solidFill>
                  <a:schemeClr val="tx1">
                    <a:lumMod val="85000"/>
                    <a:lumOff val="15000"/>
                  </a:schemeClr>
                </a:solidFill>
              </a:rPr>
              <a:t> and peak sales periods.</a:t>
            </a:r>
          </a:p>
          <a:p>
            <a:pPr marL="342900" indent="-342900">
              <a:buFont typeface="Arial" panose="020B0604020202020204" pitchFamily="34" charset="0"/>
              <a:buChar char="•"/>
            </a:pPr>
            <a:r>
              <a:rPr lang="en-IN" dirty="0">
                <a:solidFill>
                  <a:schemeClr val="tx1">
                    <a:lumMod val="85000"/>
                    <a:lumOff val="15000"/>
                  </a:schemeClr>
                </a:solidFill>
              </a:rPr>
              <a:t>Create interactive visualizations and dashboards for easy interpretation.</a:t>
            </a:r>
          </a:p>
          <a:p>
            <a:pPr marL="342900" indent="-342900">
              <a:buFont typeface="Arial" panose="020B0604020202020204" pitchFamily="34" charset="0"/>
              <a:buChar char="•"/>
            </a:pPr>
            <a:r>
              <a:rPr lang="en-IN" dirty="0">
                <a:solidFill>
                  <a:schemeClr val="tx1">
                    <a:lumMod val="85000"/>
                    <a:lumOff val="15000"/>
                  </a:schemeClr>
                </a:solidFill>
              </a:rPr>
              <a:t>Validate key findings using basic statistical methods.</a:t>
            </a:r>
          </a:p>
          <a:p>
            <a:pPr marL="342900" indent="-342900">
              <a:buFont typeface="Arial" panose="020B0604020202020204" pitchFamily="34" charset="0"/>
              <a:buChar char="•"/>
            </a:pPr>
            <a:r>
              <a:rPr lang="en-IN" dirty="0">
                <a:solidFill>
                  <a:schemeClr val="tx1">
                    <a:lumMod val="85000"/>
                    <a:lumOff val="15000"/>
                  </a:schemeClr>
                </a:solidFill>
              </a:rPr>
              <a:t>Provide data-driven recommendations to improve sales, profitability, and overall business performance.</a:t>
            </a:r>
          </a:p>
          <a:p>
            <a:endParaRPr lang="en-IN" dirty="0"/>
          </a:p>
        </p:txBody>
      </p:sp>
    </p:spTree>
    <p:extLst>
      <p:ext uri="{BB962C8B-B14F-4D97-AF65-F5344CB8AC3E}">
        <p14:creationId xmlns:p14="http://schemas.microsoft.com/office/powerpoint/2010/main" val="33828725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55D96-8809-C5F8-E08C-59B540E54386}"/>
              </a:ext>
            </a:extLst>
          </p:cNvPr>
          <p:cNvSpPr>
            <a:spLocks noGrp="1"/>
          </p:cNvSpPr>
          <p:nvPr>
            <p:ph type="title"/>
          </p:nvPr>
        </p:nvSpPr>
        <p:spPr>
          <a:xfrm>
            <a:off x="54015" y="-1095630"/>
            <a:ext cx="8596668" cy="1826581"/>
          </a:xfrm>
        </p:spPr>
        <p:txBody>
          <a:bodyPr/>
          <a:lstStyle/>
          <a:p>
            <a:pPr algn="ctr"/>
            <a:r>
              <a:rPr lang="en-IN" dirty="0"/>
              <a:t>Dataset Overview</a:t>
            </a:r>
          </a:p>
        </p:txBody>
      </p:sp>
      <p:sp>
        <p:nvSpPr>
          <p:cNvPr id="3" name="Text Placeholder 2">
            <a:extLst>
              <a:ext uri="{FF2B5EF4-FFF2-40B4-BE49-F238E27FC236}">
                <a16:creationId xmlns:a16="http://schemas.microsoft.com/office/drawing/2014/main" id="{78760CAD-34A0-2061-5FAA-DC79B6199896}"/>
              </a:ext>
            </a:extLst>
          </p:cNvPr>
          <p:cNvSpPr>
            <a:spLocks noGrp="1"/>
          </p:cNvSpPr>
          <p:nvPr>
            <p:ph type="body" idx="1"/>
          </p:nvPr>
        </p:nvSpPr>
        <p:spPr>
          <a:xfrm>
            <a:off x="191198" y="730950"/>
            <a:ext cx="11823323" cy="6127049"/>
          </a:xfrm>
        </p:spPr>
        <p:txBody>
          <a:bodyPr>
            <a:normAutofit fontScale="70000" lnSpcReduction="20000"/>
          </a:bodyPr>
          <a:lstStyle/>
          <a:p>
            <a:r>
              <a:rPr lang="en-IN" sz="2200" dirty="0">
                <a:solidFill>
                  <a:schemeClr val="tx1">
                    <a:lumMod val="85000"/>
                    <a:lumOff val="15000"/>
                  </a:schemeClr>
                </a:solidFill>
              </a:rPr>
              <a:t>The project uses a cleaned café sales dataset containing transactional information collected from daily café operations.</a:t>
            </a:r>
          </a:p>
          <a:p>
            <a:r>
              <a:rPr lang="en-IN" sz="3300" b="1" dirty="0">
                <a:solidFill>
                  <a:schemeClr val="tx1">
                    <a:lumMod val="85000"/>
                    <a:lumOff val="15000"/>
                  </a:schemeClr>
                </a:solidFill>
              </a:rPr>
              <a:t>Dataset Information</a:t>
            </a:r>
          </a:p>
          <a:p>
            <a:r>
              <a:rPr lang="en-IN" dirty="0">
                <a:solidFill>
                  <a:schemeClr val="tx1">
                    <a:lumMod val="85000"/>
                    <a:lumOff val="15000"/>
                  </a:schemeClr>
                </a:solidFill>
              </a:rPr>
              <a:t>Dataset Name</a:t>
            </a:r>
            <a:r>
              <a:rPr lang="en-IN" sz="2200" dirty="0">
                <a:solidFill>
                  <a:schemeClr val="tx1">
                    <a:lumMod val="85000"/>
                    <a:lumOff val="15000"/>
                  </a:schemeClr>
                </a:solidFill>
              </a:rPr>
              <a:t>: Cleaned Cafe Sales Dataset </a:t>
            </a:r>
          </a:p>
          <a:p>
            <a:r>
              <a:rPr lang="en-IN" dirty="0">
                <a:solidFill>
                  <a:schemeClr val="tx1">
                    <a:lumMod val="85000"/>
                    <a:lumOff val="15000"/>
                  </a:schemeClr>
                </a:solidFill>
              </a:rPr>
              <a:t>File Format</a:t>
            </a:r>
            <a:r>
              <a:rPr lang="en-IN" sz="2200" dirty="0">
                <a:solidFill>
                  <a:schemeClr val="tx1">
                    <a:lumMod val="85000"/>
                    <a:lumOff val="15000"/>
                  </a:schemeClr>
                </a:solidFill>
              </a:rPr>
              <a:t>: CSV </a:t>
            </a:r>
          </a:p>
          <a:p>
            <a:r>
              <a:rPr lang="en-IN" sz="2300" dirty="0">
                <a:solidFill>
                  <a:schemeClr val="tx1">
                    <a:lumMod val="85000"/>
                    <a:lumOff val="15000"/>
                  </a:schemeClr>
                </a:solidFill>
              </a:rPr>
              <a:t>Tools Used: </a:t>
            </a:r>
          </a:p>
          <a:p>
            <a:pPr marL="800100" lvl="1" indent="-342900">
              <a:buFont typeface="Arial" panose="020B0604020202020204" pitchFamily="34" charset="0"/>
              <a:buChar char="•"/>
            </a:pPr>
            <a:r>
              <a:rPr lang="en-IN" sz="2200" dirty="0">
                <a:solidFill>
                  <a:schemeClr val="tx1">
                    <a:lumMod val="85000"/>
                    <a:lumOff val="15000"/>
                  </a:schemeClr>
                </a:solidFill>
              </a:rPr>
              <a:t>Python </a:t>
            </a:r>
          </a:p>
          <a:p>
            <a:pPr marL="800100" lvl="1" indent="-342900">
              <a:buFont typeface="Arial" panose="020B0604020202020204" pitchFamily="34" charset="0"/>
              <a:buChar char="•"/>
            </a:pPr>
            <a:r>
              <a:rPr lang="en-IN" sz="2200" dirty="0">
                <a:solidFill>
                  <a:schemeClr val="tx1">
                    <a:lumMod val="85000"/>
                    <a:lumOff val="15000"/>
                  </a:schemeClr>
                </a:solidFill>
              </a:rPr>
              <a:t>Pandas </a:t>
            </a:r>
          </a:p>
          <a:p>
            <a:pPr marL="800100" lvl="1" indent="-342900">
              <a:buFont typeface="Arial" panose="020B0604020202020204" pitchFamily="34" charset="0"/>
              <a:buChar char="•"/>
            </a:pPr>
            <a:r>
              <a:rPr lang="en-IN" sz="2200" dirty="0">
                <a:solidFill>
                  <a:schemeClr val="tx1">
                    <a:lumMod val="85000"/>
                    <a:lumOff val="15000"/>
                  </a:schemeClr>
                </a:solidFill>
              </a:rPr>
              <a:t>NumPy </a:t>
            </a:r>
          </a:p>
          <a:p>
            <a:pPr marL="800100" lvl="1" indent="-342900">
              <a:buFont typeface="Arial" panose="020B0604020202020204" pitchFamily="34" charset="0"/>
              <a:buChar char="•"/>
            </a:pPr>
            <a:r>
              <a:rPr lang="en-IN" sz="2200" dirty="0">
                <a:solidFill>
                  <a:schemeClr val="tx1">
                    <a:lumMod val="85000"/>
                    <a:lumOff val="15000"/>
                  </a:schemeClr>
                </a:solidFill>
              </a:rPr>
              <a:t>Matplotlib </a:t>
            </a:r>
          </a:p>
          <a:p>
            <a:pPr marL="800100" lvl="1" indent="-342900">
              <a:buFont typeface="Arial" panose="020B0604020202020204" pitchFamily="34" charset="0"/>
              <a:buChar char="•"/>
            </a:pPr>
            <a:r>
              <a:rPr lang="en-IN" sz="2200" dirty="0">
                <a:solidFill>
                  <a:schemeClr val="tx1">
                    <a:lumMod val="85000"/>
                    <a:lumOff val="15000"/>
                  </a:schemeClr>
                </a:solidFill>
              </a:rPr>
              <a:t>Seaborn </a:t>
            </a:r>
          </a:p>
          <a:p>
            <a:pPr marL="800100" lvl="1" indent="-342900">
              <a:buFont typeface="Arial" panose="020B0604020202020204" pitchFamily="34" charset="0"/>
              <a:buChar char="•"/>
            </a:pPr>
            <a:r>
              <a:rPr lang="en-IN" sz="2200" dirty="0">
                <a:solidFill>
                  <a:schemeClr val="tx1">
                    <a:lumMod val="85000"/>
                    <a:lumOff val="15000"/>
                  </a:schemeClr>
                </a:solidFill>
              </a:rPr>
              <a:t>Google </a:t>
            </a:r>
            <a:r>
              <a:rPr lang="en-IN" sz="2200" dirty="0" err="1">
                <a:solidFill>
                  <a:schemeClr val="tx1">
                    <a:lumMod val="85000"/>
                    <a:lumOff val="15000"/>
                  </a:schemeClr>
                </a:solidFill>
              </a:rPr>
              <a:t>Colab</a:t>
            </a:r>
            <a:r>
              <a:rPr lang="en-IN" sz="2200" dirty="0">
                <a:solidFill>
                  <a:schemeClr val="tx1">
                    <a:lumMod val="85000"/>
                    <a:lumOff val="15000"/>
                  </a:schemeClr>
                </a:solidFill>
              </a:rPr>
              <a:t> </a:t>
            </a:r>
          </a:p>
          <a:p>
            <a:r>
              <a:rPr lang="en-IN" sz="2500" b="1" dirty="0">
                <a:solidFill>
                  <a:schemeClr val="tx1">
                    <a:lumMod val="85000"/>
                    <a:lumOff val="15000"/>
                  </a:schemeClr>
                </a:solidFill>
              </a:rPr>
              <a:t>Important Features</a:t>
            </a:r>
          </a:p>
          <a:p>
            <a:pPr marL="342900" indent="-342900">
              <a:buFont typeface="Arial" panose="020B0604020202020204" pitchFamily="34" charset="0"/>
              <a:buChar char="•"/>
            </a:pPr>
            <a:r>
              <a:rPr lang="en-IN" sz="2200" dirty="0">
                <a:solidFill>
                  <a:schemeClr val="tx1">
                    <a:lumMod val="85000"/>
                    <a:lumOff val="15000"/>
                  </a:schemeClr>
                </a:solidFill>
              </a:rPr>
              <a:t>Product Name </a:t>
            </a:r>
          </a:p>
          <a:p>
            <a:pPr marL="342900" indent="-342900">
              <a:buFont typeface="Arial" panose="020B0604020202020204" pitchFamily="34" charset="0"/>
              <a:buChar char="•"/>
            </a:pPr>
            <a:r>
              <a:rPr lang="en-IN" sz="2200" dirty="0">
                <a:solidFill>
                  <a:schemeClr val="tx1">
                    <a:lumMod val="85000"/>
                    <a:lumOff val="15000"/>
                  </a:schemeClr>
                </a:solidFill>
              </a:rPr>
              <a:t>Category </a:t>
            </a:r>
          </a:p>
          <a:p>
            <a:pPr marL="342900" indent="-342900">
              <a:buFont typeface="Arial" panose="020B0604020202020204" pitchFamily="34" charset="0"/>
              <a:buChar char="•"/>
            </a:pPr>
            <a:r>
              <a:rPr lang="en-IN" sz="2200" dirty="0">
                <a:solidFill>
                  <a:schemeClr val="tx1">
                    <a:lumMod val="85000"/>
                    <a:lumOff val="15000"/>
                  </a:schemeClr>
                </a:solidFill>
              </a:rPr>
              <a:t>Quantity </a:t>
            </a:r>
          </a:p>
          <a:p>
            <a:pPr marL="342900" indent="-342900">
              <a:buFont typeface="Arial" panose="020B0604020202020204" pitchFamily="34" charset="0"/>
              <a:buChar char="•"/>
            </a:pPr>
            <a:r>
              <a:rPr lang="en-IN" sz="2200" dirty="0">
                <a:solidFill>
                  <a:schemeClr val="tx1">
                    <a:lumMod val="85000"/>
                    <a:lumOff val="15000"/>
                  </a:schemeClr>
                </a:solidFill>
              </a:rPr>
              <a:t>Price </a:t>
            </a:r>
          </a:p>
          <a:p>
            <a:pPr marL="342900" indent="-342900">
              <a:buFont typeface="Arial" panose="020B0604020202020204" pitchFamily="34" charset="0"/>
              <a:buChar char="•"/>
            </a:pPr>
            <a:r>
              <a:rPr lang="en-IN" sz="2200" dirty="0">
                <a:solidFill>
                  <a:schemeClr val="tx1">
                    <a:lumMod val="85000"/>
                    <a:lumOff val="15000"/>
                  </a:schemeClr>
                </a:solidFill>
              </a:rPr>
              <a:t>Sales Amount </a:t>
            </a:r>
          </a:p>
          <a:p>
            <a:pPr marL="342900" indent="-342900">
              <a:buFont typeface="Arial" panose="020B0604020202020204" pitchFamily="34" charset="0"/>
              <a:buChar char="•"/>
            </a:pPr>
            <a:r>
              <a:rPr lang="en-IN" sz="2200" dirty="0">
                <a:solidFill>
                  <a:schemeClr val="tx1">
                    <a:lumMod val="85000"/>
                    <a:lumOff val="15000"/>
                  </a:schemeClr>
                </a:solidFill>
              </a:rPr>
              <a:t>Payment Method </a:t>
            </a:r>
          </a:p>
          <a:p>
            <a:pPr marL="342900" indent="-342900">
              <a:buFont typeface="Arial" panose="020B0604020202020204" pitchFamily="34" charset="0"/>
              <a:buChar char="•"/>
            </a:pPr>
            <a:r>
              <a:rPr lang="en-IN" sz="2200" dirty="0">
                <a:solidFill>
                  <a:schemeClr val="tx1">
                    <a:lumMod val="85000"/>
                    <a:lumOff val="15000"/>
                  </a:schemeClr>
                </a:solidFill>
              </a:rPr>
              <a:t>Date </a:t>
            </a:r>
          </a:p>
          <a:p>
            <a:endParaRPr lang="en-IN" dirty="0"/>
          </a:p>
        </p:txBody>
      </p:sp>
    </p:spTree>
    <p:extLst>
      <p:ext uri="{BB962C8B-B14F-4D97-AF65-F5344CB8AC3E}">
        <p14:creationId xmlns:p14="http://schemas.microsoft.com/office/powerpoint/2010/main" val="1650997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A259A-E1E0-3C80-8728-B69E72CFB4FC}"/>
              </a:ext>
            </a:extLst>
          </p:cNvPr>
          <p:cNvSpPr>
            <a:spLocks noGrp="1"/>
          </p:cNvSpPr>
          <p:nvPr>
            <p:ph type="title"/>
          </p:nvPr>
        </p:nvSpPr>
        <p:spPr>
          <a:xfrm>
            <a:off x="121750" y="-915384"/>
            <a:ext cx="8596668" cy="2595460"/>
          </a:xfrm>
        </p:spPr>
        <p:txBody>
          <a:bodyPr/>
          <a:lstStyle/>
          <a:p>
            <a:pPr algn="ctr"/>
            <a:r>
              <a:rPr lang="en-IN" b="1" dirty="0"/>
              <a:t>Data Cleaning Process</a:t>
            </a:r>
            <a:br>
              <a:rPr lang="en-IN" b="1" dirty="0"/>
            </a:br>
            <a:endParaRPr lang="en-IN" dirty="0"/>
          </a:p>
        </p:txBody>
      </p:sp>
      <p:sp>
        <p:nvSpPr>
          <p:cNvPr id="3" name="Text Placeholder 2">
            <a:extLst>
              <a:ext uri="{FF2B5EF4-FFF2-40B4-BE49-F238E27FC236}">
                <a16:creationId xmlns:a16="http://schemas.microsoft.com/office/drawing/2014/main" id="{87D7BB4E-06C5-59CB-5C78-B5A87707DDE9}"/>
              </a:ext>
            </a:extLst>
          </p:cNvPr>
          <p:cNvSpPr>
            <a:spLocks noGrp="1"/>
          </p:cNvSpPr>
          <p:nvPr>
            <p:ph type="body" idx="1"/>
          </p:nvPr>
        </p:nvSpPr>
        <p:spPr>
          <a:xfrm>
            <a:off x="121749" y="1136066"/>
            <a:ext cx="11846473" cy="5635124"/>
          </a:xfrm>
        </p:spPr>
        <p:txBody>
          <a:bodyPr>
            <a:normAutofit lnSpcReduction="10000"/>
          </a:bodyPr>
          <a:lstStyle/>
          <a:p>
            <a:r>
              <a:rPr lang="en-IN" sz="2000" b="1" dirty="0"/>
              <a:t>Data Cleaning</a:t>
            </a:r>
          </a:p>
          <a:p>
            <a:r>
              <a:rPr lang="en-IN" dirty="0"/>
              <a:t>Before analysis, the dataset was cleaned to improve data quality and ensure reliable results.</a:t>
            </a:r>
          </a:p>
          <a:p>
            <a:r>
              <a:rPr lang="en-IN" sz="2000" b="1" dirty="0"/>
              <a:t>Cleaning Steps</a:t>
            </a:r>
          </a:p>
          <a:p>
            <a:pPr marL="285750" indent="-285750">
              <a:buFont typeface="Arial" panose="020B0604020202020204" pitchFamily="34" charset="0"/>
              <a:buChar char="•"/>
            </a:pPr>
            <a:r>
              <a:rPr lang="en-IN" dirty="0"/>
              <a:t>Removed duplicate records. </a:t>
            </a:r>
          </a:p>
          <a:p>
            <a:pPr marL="285750" indent="-285750">
              <a:buFont typeface="Arial" panose="020B0604020202020204" pitchFamily="34" charset="0"/>
              <a:buChar char="•"/>
            </a:pPr>
            <a:r>
              <a:rPr lang="en-IN" dirty="0"/>
              <a:t>Handled missing values. </a:t>
            </a:r>
          </a:p>
          <a:p>
            <a:pPr marL="285750" indent="-285750">
              <a:buFont typeface="Arial" panose="020B0604020202020204" pitchFamily="34" charset="0"/>
              <a:buChar char="•"/>
            </a:pPr>
            <a:r>
              <a:rPr lang="en-IN" dirty="0"/>
              <a:t>Corrected inconsistent data formats. </a:t>
            </a:r>
          </a:p>
          <a:p>
            <a:pPr marL="285750" indent="-285750">
              <a:buFont typeface="Arial" panose="020B0604020202020204" pitchFamily="34" charset="0"/>
              <a:buChar char="•"/>
            </a:pPr>
            <a:r>
              <a:rPr lang="en-IN" dirty="0"/>
              <a:t>Standardized column names. </a:t>
            </a:r>
          </a:p>
          <a:p>
            <a:pPr marL="285750" indent="-285750">
              <a:buFont typeface="Arial" panose="020B0604020202020204" pitchFamily="34" charset="0"/>
              <a:buChar char="•"/>
            </a:pPr>
            <a:r>
              <a:rPr lang="en-IN" dirty="0"/>
              <a:t>Converted date columns to proper format. </a:t>
            </a:r>
          </a:p>
          <a:p>
            <a:pPr marL="285750" indent="-285750">
              <a:buFont typeface="Arial" panose="020B0604020202020204" pitchFamily="34" charset="0"/>
              <a:buChar char="•"/>
            </a:pPr>
            <a:r>
              <a:rPr lang="en-IN" dirty="0"/>
              <a:t>Removed unnecessary columns. </a:t>
            </a:r>
          </a:p>
          <a:p>
            <a:pPr marL="285750" indent="-285750">
              <a:buFont typeface="Arial" panose="020B0604020202020204" pitchFamily="34" charset="0"/>
              <a:buChar char="•"/>
            </a:pPr>
            <a:r>
              <a:rPr lang="en-IN" dirty="0"/>
              <a:t>Checked for invalid values. </a:t>
            </a:r>
          </a:p>
          <a:p>
            <a:r>
              <a:rPr lang="en-IN" sz="2000" b="1" dirty="0"/>
              <a:t>Outcome</a:t>
            </a:r>
          </a:p>
          <a:p>
            <a:pPr marL="285750" indent="-285750">
              <a:buFont typeface="Arial" panose="020B0604020202020204" pitchFamily="34" charset="0"/>
              <a:buChar char="•"/>
            </a:pPr>
            <a:r>
              <a:rPr lang="en-IN" dirty="0"/>
              <a:t>Clean and accurate dataset </a:t>
            </a:r>
          </a:p>
          <a:p>
            <a:pPr marL="285750" indent="-285750">
              <a:buFont typeface="Arial" panose="020B0604020202020204" pitchFamily="34" charset="0"/>
              <a:buChar char="•"/>
            </a:pPr>
            <a:r>
              <a:rPr lang="en-IN" dirty="0"/>
              <a:t>Improved consistency </a:t>
            </a:r>
          </a:p>
          <a:p>
            <a:pPr marL="285750" indent="-285750">
              <a:buFont typeface="Arial" panose="020B0604020202020204" pitchFamily="34" charset="0"/>
              <a:buChar char="•"/>
            </a:pPr>
            <a:r>
              <a:rPr lang="en-IN" dirty="0"/>
              <a:t>Ready for analysis </a:t>
            </a:r>
          </a:p>
          <a:p>
            <a:endParaRPr lang="en-IN" dirty="0"/>
          </a:p>
        </p:txBody>
      </p:sp>
    </p:spTree>
    <p:extLst>
      <p:ext uri="{BB962C8B-B14F-4D97-AF65-F5344CB8AC3E}">
        <p14:creationId xmlns:p14="http://schemas.microsoft.com/office/powerpoint/2010/main" val="215499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FBB42-FEA7-E17E-D278-7B1079365949}"/>
              </a:ext>
            </a:extLst>
          </p:cNvPr>
          <p:cNvSpPr>
            <a:spLocks noGrp="1"/>
          </p:cNvSpPr>
          <p:nvPr>
            <p:ph type="title"/>
          </p:nvPr>
        </p:nvSpPr>
        <p:spPr>
          <a:xfrm>
            <a:off x="1626459" y="-1135303"/>
            <a:ext cx="8596668" cy="2595460"/>
          </a:xfrm>
        </p:spPr>
        <p:txBody>
          <a:bodyPr/>
          <a:lstStyle/>
          <a:p>
            <a:r>
              <a:rPr lang="en-IN" b="1" dirty="0"/>
              <a:t>Exploratory Data Analysis (EDA)</a:t>
            </a:r>
            <a:br>
              <a:rPr lang="en-IN" b="1" dirty="0"/>
            </a:br>
            <a:endParaRPr lang="en-IN" dirty="0"/>
          </a:p>
        </p:txBody>
      </p:sp>
      <p:sp>
        <p:nvSpPr>
          <p:cNvPr id="3" name="Text Placeholder 2">
            <a:extLst>
              <a:ext uri="{FF2B5EF4-FFF2-40B4-BE49-F238E27FC236}">
                <a16:creationId xmlns:a16="http://schemas.microsoft.com/office/drawing/2014/main" id="{58E997E7-0D9E-4E85-BB49-2A6694AB0DA4}"/>
              </a:ext>
            </a:extLst>
          </p:cNvPr>
          <p:cNvSpPr>
            <a:spLocks noGrp="1"/>
          </p:cNvSpPr>
          <p:nvPr>
            <p:ph type="body" idx="1"/>
          </p:nvPr>
        </p:nvSpPr>
        <p:spPr>
          <a:xfrm>
            <a:off x="230637" y="1148350"/>
            <a:ext cx="11730726" cy="5536739"/>
          </a:xfrm>
        </p:spPr>
        <p:txBody>
          <a:bodyPr>
            <a:normAutofit fontScale="92500" lnSpcReduction="10000"/>
          </a:bodyPr>
          <a:lstStyle/>
          <a:p>
            <a:r>
              <a:rPr lang="en-IN" sz="2200" b="1" dirty="0"/>
              <a:t>Exploratory Data Analysis</a:t>
            </a:r>
          </a:p>
          <a:p>
            <a:r>
              <a:rPr lang="en-IN" dirty="0"/>
              <a:t>EDA was performed to understand trends and relationships in the café sales data.</a:t>
            </a:r>
          </a:p>
          <a:p>
            <a:r>
              <a:rPr lang="en-IN" sz="2200" b="1" dirty="0"/>
              <a:t>Analysis Performed</a:t>
            </a:r>
          </a:p>
          <a:p>
            <a:pPr marL="285750" indent="-285750">
              <a:buFont typeface="Arial" panose="020B0604020202020204" pitchFamily="34" charset="0"/>
              <a:buChar char="•"/>
            </a:pPr>
            <a:r>
              <a:rPr lang="en-IN" dirty="0"/>
              <a:t>Total Sales Analysis </a:t>
            </a:r>
          </a:p>
          <a:p>
            <a:pPr marL="285750" indent="-285750">
              <a:buFont typeface="Arial" panose="020B0604020202020204" pitchFamily="34" charset="0"/>
              <a:buChar char="•"/>
            </a:pPr>
            <a:r>
              <a:rPr lang="en-IN" dirty="0"/>
              <a:t>Product-wise Sales </a:t>
            </a:r>
          </a:p>
          <a:p>
            <a:pPr marL="285750" indent="-285750">
              <a:buFont typeface="Arial" panose="020B0604020202020204" pitchFamily="34" charset="0"/>
              <a:buChar char="•"/>
            </a:pPr>
            <a:r>
              <a:rPr lang="en-IN" dirty="0"/>
              <a:t>Category-wise Revenue </a:t>
            </a:r>
          </a:p>
          <a:p>
            <a:pPr marL="285750" indent="-285750">
              <a:buFont typeface="Arial" panose="020B0604020202020204" pitchFamily="34" charset="0"/>
              <a:buChar char="•"/>
            </a:pPr>
            <a:r>
              <a:rPr lang="en-IN" dirty="0"/>
              <a:t>Daily/Monthly Sales Trend </a:t>
            </a:r>
          </a:p>
          <a:p>
            <a:pPr marL="285750" indent="-285750">
              <a:buFont typeface="Arial" panose="020B0604020202020204" pitchFamily="34" charset="0"/>
              <a:buChar char="•"/>
            </a:pPr>
            <a:r>
              <a:rPr lang="en-IN" dirty="0"/>
              <a:t>Payment Method Distribution </a:t>
            </a:r>
          </a:p>
          <a:p>
            <a:pPr marL="285750" indent="-285750">
              <a:buFont typeface="Arial" panose="020B0604020202020204" pitchFamily="34" charset="0"/>
              <a:buChar char="•"/>
            </a:pPr>
            <a:r>
              <a:rPr lang="en-IN" dirty="0"/>
              <a:t>Top Selling Products </a:t>
            </a:r>
          </a:p>
          <a:p>
            <a:r>
              <a:rPr lang="en-IN" sz="2200" b="1" dirty="0"/>
              <a:t>Visualizations</a:t>
            </a:r>
          </a:p>
          <a:p>
            <a:pPr marL="285750" indent="-285750">
              <a:buFont typeface="Arial" panose="020B0604020202020204" pitchFamily="34" charset="0"/>
              <a:buChar char="•"/>
            </a:pPr>
            <a:r>
              <a:rPr lang="en-IN" dirty="0"/>
              <a:t>Bar Chart </a:t>
            </a:r>
          </a:p>
          <a:p>
            <a:pPr marL="285750" indent="-285750">
              <a:buFont typeface="Arial" panose="020B0604020202020204" pitchFamily="34" charset="0"/>
              <a:buChar char="•"/>
            </a:pPr>
            <a:r>
              <a:rPr lang="en-IN" dirty="0"/>
              <a:t>Pie Chart </a:t>
            </a:r>
          </a:p>
          <a:p>
            <a:pPr marL="285750" indent="-285750">
              <a:buFont typeface="Arial" panose="020B0604020202020204" pitchFamily="34" charset="0"/>
              <a:buChar char="•"/>
            </a:pPr>
            <a:r>
              <a:rPr lang="en-IN" dirty="0"/>
              <a:t>Line Chart </a:t>
            </a:r>
          </a:p>
          <a:p>
            <a:pPr marL="285750" indent="-285750">
              <a:buFont typeface="Arial" panose="020B0604020202020204" pitchFamily="34" charset="0"/>
              <a:buChar char="•"/>
            </a:pPr>
            <a:r>
              <a:rPr lang="en-IN" dirty="0"/>
              <a:t>Histogram </a:t>
            </a:r>
          </a:p>
          <a:p>
            <a:pPr marL="285750" indent="-285750">
              <a:buFont typeface="Arial" panose="020B0604020202020204" pitchFamily="34" charset="0"/>
              <a:buChar char="•"/>
            </a:pPr>
            <a:r>
              <a:rPr lang="en-IN" dirty="0"/>
              <a:t>Heatmap </a:t>
            </a:r>
          </a:p>
          <a:p>
            <a:endParaRPr lang="en-IN" dirty="0"/>
          </a:p>
        </p:txBody>
      </p:sp>
    </p:spTree>
    <p:extLst>
      <p:ext uri="{BB962C8B-B14F-4D97-AF65-F5344CB8AC3E}">
        <p14:creationId xmlns:p14="http://schemas.microsoft.com/office/powerpoint/2010/main" val="3372028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BFC6A-3CB2-E54A-4BCC-5CCA2B3ED270}"/>
              </a:ext>
            </a:extLst>
          </p:cNvPr>
          <p:cNvSpPr>
            <a:spLocks noGrp="1"/>
          </p:cNvSpPr>
          <p:nvPr>
            <p:ph type="title"/>
          </p:nvPr>
        </p:nvSpPr>
        <p:spPr>
          <a:xfrm>
            <a:off x="2349660" y="-1778822"/>
            <a:ext cx="8596668" cy="2595460"/>
          </a:xfrm>
        </p:spPr>
        <p:txBody>
          <a:bodyPr/>
          <a:lstStyle/>
          <a:p>
            <a:r>
              <a:rPr lang="en-IN" dirty="0"/>
              <a:t>Dashboard Overview</a:t>
            </a:r>
          </a:p>
        </p:txBody>
      </p:sp>
      <p:sp>
        <p:nvSpPr>
          <p:cNvPr id="3" name="Text Placeholder 2">
            <a:extLst>
              <a:ext uri="{FF2B5EF4-FFF2-40B4-BE49-F238E27FC236}">
                <a16:creationId xmlns:a16="http://schemas.microsoft.com/office/drawing/2014/main" id="{1A5D83D9-2687-84AF-D3B2-1B6A407EE239}"/>
              </a:ext>
            </a:extLst>
          </p:cNvPr>
          <p:cNvSpPr>
            <a:spLocks noGrp="1"/>
          </p:cNvSpPr>
          <p:nvPr>
            <p:ph type="body" idx="1"/>
          </p:nvPr>
        </p:nvSpPr>
        <p:spPr>
          <a:xfrm>
            <a:off x="143827" y="935529"/>
            <a:ext cx="11904346" cy="4986942"/>
          </a:xfrm>
        </p:spPr>
        <p:txBody>
          <a:bodyPr>
            <a:normAutofit fontScale="92500" lnSpcReduction="20000"/>
          </a:bodyPr>
          <a:lstStyle/>
          <a:p>
            <a:r>
              <a:rPr lang="en-IN" sz="2200" b="1" dirty="0"/>
              <a:t>Dashboard</a:t>
            </a:r>
          </a:p>
          <a:p>
            <a:r>
              <a:rPr lang="en-IN" dirty="0"/>
              <a:t>An interactive dashboard was created to summarize key business metrics.</a:t>
            </a:r>
          </a:p>
          <a:p>
            <a:r>
              <a:rPr lang="en-IN" sz="2200" b="1" dirty="0"/>
              <a:t>Dashboard Includes</a:t>
            </a:r>
          </a:p>
          <a:p>
            <a:pPr marL="285750" indent="-285750">
              <a:buFont typeface="Courier New" panose="02070309020205020404" pitchFamily="49" charset="0"/>
              <a:buChar char="o"/>
            </a:pPr>
            <a:r>
              <a:rPr lang="en-IN" dirty="0"/>
              <a:t>Total Revenue </a:t>
            </a:r>
          </a:p>
          <a:p>
            <a:pPr marL="285750" indent="-285750">
              <a:buFont typeface="Courier New" panose="02070309020205020404" pitchFamily="49" charset="0"/>
              <a:buChar char="o"/>
            </a:pPr>
            <a:r>
              <a:rPr lang="en-IN" dirty="0"/>
              <a:t>Total Orders </a:t>
            </a:r>
          </a:p>
          <a:p>
            <a:pPr marL="285750" indent="-285750">
              <a:buFont typeface="Courier New" panose="02070309020205020404" pitchFamily="49" charset="0"/>
              <a:buChar char="o"/>
            </a:pPr>
            <a:r>
              <a:rPr lang="en-IN" dirty="0"/>
              <a:t>Average Sales </a:t>
            </a:r>
          </a:p>
          <a:p>
            <a:pPr marL="285750" indent="-285750">
              <a:buFont typeface="Courier New" panose="02070309020205020404" pitchFamily="49" charset="0"/>
              <a:buChar char="o"/>
            </a:pPr>
            <a:r>
              <a:rPr lang="en-IN" dirty="0"/>
              <a:t>Best Selling Products </a:t>
            </a:r>
          </a:p>
          <a:p>
            <a:pPr marL="285750" indent="-285750">
              <a:buFont typeface="Courier New" panose="02070309020205020404" pitchFamily="49" charset="0"/>
              <a:buChar char="o"/>
            </a:pPr>
            <a:r>
              <a:rPr lang="en-IN" dirty="0"/>
              <a:t>Monthly Sales Trend </a:t>
            </a:r>
          </a:p>
          <a:p>
            <a:pPr marL="285750" indent="-285750">
              <a:buFont typeface="Courier New" panose="02070309020205020404" pitchFamily="49" charset="0"/>
              <a:buChar char="o"/>
            </a:pPr>
            <a:r>
              <a:rPr lang="en-IN" dirty="0"/>
              <a:t>Category-wise Sales </a:t>
            </a:r>
          </a:p>
          <a:p>
            <a:pPr marL="285750" indent="-285750">
              <a:buFont typeface="Courier New" panose="02070309020205020404" pitchFamily="49" charset="0"/>
              <a:buChar char="o"/>
            </a:pPr>
            <a:r>
              <a:rPr lang="en-IN" dirty="0"/>
              <a:t>Payment Method Analysis </a:t>
            </a:r>
          </a:p>
          <a:p>
            <a:r>
              <a:rPr lang="en-IN" sz="2200" b="1" dirty="0"/>
              <a:t>Benefits</a:t>
            </a:r>
          </a:p>
          <a:p>
            <a:pPr marL="285750" indent="-285750">
              <a:buFont typeface="Wingdings" panose="05000000000000000000" pitchFamily="2" charset="2"/>
              <a:buChar char="§"/>
            </a:pPr>
            <a:r>
              <a:rPr lang="en-IN" dirty="0"/>
              <a:t>Easy decision making </a:t>
            </a:r>
          </a:p>
          <a:p>
            <a:pPr marL="285750" indent="-285750">
              <a:buFont typeface="Wingdings" panose="05000000000000000000" pitchFamily="2" charset="2"/>
              <a:buChar char="§"/>
            </a:pPr>
            <a:r>
              <a:rPr lang="en-IN" dirty="0"/>
              <a:t>Interactive filtering </a:t>
            </a:r>
          </a:p>
          <a:p>
            <a:pPr marL="285750" indent="-285750">
              <a:buFont typeface="Wingdings" panose="05000000000000000000" pitchFamily="2" charset="2"/>
              <a:buChar char="§"/>
            </a:pPr>
            <a:r>
              <a:rPr lang="en-IN" dirty="0"/>
              <a:t>Business performance monitoring</a:t>
            </a:r>
          </a:p>
          <a:p>
            <a:endParaRPr lang="en-IN" dirty="0"/>
          </a:p>
        </p:txBody>
      </p:sp>
    </p:spTree>
    <p:extLst>
      <p:ext uri="{BB962C8B-B14F-4D97-AF65-F5344CB8AC3E}">
        <p14:creationId xmlns:p14="http://schemas.microsoft.com/office/powerpoint/2010/main" val="999351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AD7B6-3E27-8361-8144-3EFD680AEF1C}"/>
              </a:ext>
            </a:extLst>
          </p:cNvPr>
          <p:cNvSpPr>
            <a:spLocks noGrp="1"/>
          </p:cNvSpPr>
          <p:nvPr>
            <p:ph type="title"/>
          </p:nvPr>
        </p:nvSpPr>
        <p:spPr>
          <a:xfrm>
            <a:off x="2818651" y="-1777075"/>
            <a:ext cx="8596668" cy="2595460"/>
          </a:xfrm>
        </p:spPr>
        <p:txBody>
          <a:bodyPr/>
          <a:lstStyle/>
          <a:p>
            <a:r>
              <a:rPr lang="en-IN" dirty="0"/>
              <a:t>Key Business Insights</a:t>
            </a:r>
          </a:p>
        </p:txBody>
      </p:sp>
      <p:sp>
        <p:nvSpPr>
          <p:cNvPr id="3" name="Text Placeholder 2">
            <a:extLst>
              <a:ext uri="{FF2B5EF4-FFF2-40B4-BE49-F238E27FC236}">
                <a16:creationId xmlns:a16="http://schemas.microsoft.com/office/drawing/2014/main" id="{4CD8F97B-92BB-9EE5-0280-D139FF216599}"/>
              </a:ext>
            </a:extLst>
          </p:cNvPr>
          <p:cNvSpPr>
            <a:spLocks noGrp="1"/>
          </p:cNvSpPr>
          <p:nvPr>
            <p:ph type="body" idx="1"/>
          </p:nvPr>
        </p:nvSpPr>
        <p:spPr>
          <a:xfrm>
            <a:off x="399541" y="1425431"/>
            <a:ext cx="12066393" cy="5432569"/>
          </a:xfrm>
        </p:spPr>
        <p:txBody>
          <a:bodyPr>
            <a:normAutofit/>
          </a:bodyPr>
          <a:lstStyle/>
          <a:p>
            <a:r>
              <a:rPr lang="en-IN" sz="2000" b="1" dirty="0"/>
              <a:t>Key Insights</a:t>
            </a:r>
          </a:p>
          <a:p>
            <a:r>
              <a:rPr lang="en-IN" dirty="0"/>
              <a:t>Based on the analysis, the following observations were identified:</a:t>
            </a:r>
          </a:p>
          <a:p>
            <a:pPr marL="285750" indent="-285750">
              <a:buFont typeface="Wingdings" panose="05000000000000000000" pitchFamily="2" charset="2"/>
              <a:buChar char="q"/>
            </a:pPr>
            <a:r>
              <a:rPr lang="en-IN" dirty="0"/>
              <a:t>Coffee beverages contributed the highest sales. </a:t>
            </a:r>
          </a:p>
          <a:p>
            <a:pPr marL="285750" indent="-285750">
              <a:buFont typeface="Wingdings" panose="05000000000000000000" pitchFamily="2" charset="2"/>
              <a:buChar char="q"/>
            </a:pPr>
            <a:r>
              <a:rPr lang="en-IN" dirty="0"/>
              <a:t>Peak sales occurred during weekends. </a:t>
            </a:r>
          </a:p>
          <a:p>
            <a:pPr marL="285750" indent="-285750">
              <a:buFont typeface="Wingdings" panose="05000000000000000000" pitchFamily="2" charset="2"/>
              <a:buChar char="q"/>
            </a:pPr>
            <a:r>
              <a:rPr lang="en-IN" dirty="0"/>
              <a:t>Digital payment methods were more frequently used. </a:t>
            </a:r>
          </a:p>
          <a:p>
            <a:pPr marL="285750" indent="-285750">
              <a:buFont typeface="Wingdings" panose="05000000000000000000" pitchFamily="2" charset="2"/>
              <a:buChar char="q"/>
            </a:pPr>
            <a:r>
              <a:rPr lang="en-IN" dirty="0"/>
              <a:t>Some products generated high revenue despite lower sales volume. </a:t>
            </a:r>
          </a:p>
          <a:p>
            <a:pPr marL="285750" indent="-285750">
              <a:buFont typeface="Wingdings" panose="05000000000000000000" pitchFamily="2" charset="2"/>
              <a:buChar char="q"/>
            </a:pPr>
            <a:r>
              <a:rPr lang="en-IN" dirty="0"/>
              <a:t>A few products showed consistently low demand. </a:t>
            </a:r>
          </a:p>
          <a:p>
            <a:endParaRPr lang="en-IN" dirty="0"/>
          </a:p>
          <a:p>
            <a:r>
              <a:rPr lang="en-IN" dirty="0"/>
              <a:t>These insights help understand customer preferences and improve inventory planning.</a:t>
            </a:r>
          </a:p>
          <a:p>
            <a:endParaRPr lang="en-IN" dirty="0"/>
          </a:p>
        </p:txBody>
      </p:sp>
    </p:spTree>
    <p:extLst>
      <p:ext uri="{BB962C8B-B14F-4D97-AF65-F5344CB8AC3E}">
        <p14:creationId xmlns:p14="http://schemas.microsoft.com/office/powerpoint/2010/main" val="285234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2E0D8-BACB-F5CD-C6F1-632F1BC52CD3}"/>
              </a:ext>
            </a:extLst>
          </p:cNvPr>
          <p:cNvSpPr>
            <a:spLocks noGrp="1"/>
          </p:cNvSpPr>
          <p:nvPr>
            <p:ph type="title"/>
          </p:nvPr>
        </p:nvSpPr>
        <p:spPr>
          <a:xfrm>
            <a:off x="2980697" y="-1753926"/>
            <a:ext cx="8596668" cy="2595460"/>
          </a:xfrm>
        </p:spPr>
        <p:txBody>
          <a:bodyPr/>
          <a:lstStyle/>
          <a:p>
            <a:r>
              <a:rPr lang="en-IN" dirty="0"/>
              <a:t>Statistical Validation</a:t>
            </a:r>
          </a:p>
        </p:txBody>
      </p:sp>
      <p:sp>
        <p:nvSpPr>
          <p:cNvPr id="3" name="Text Placeholder 2">
            <a:extLst>
              <a:ext uri="{FF2B5EF4-FFF2-40B4-BE49-F238E27FC236}">
                <a16:creationId xmlns:a16="http://schemas.microsoft.com/office/drawing/2014/main" id="{F26D9B42-B17A-D4B9-5EB4-B565CA978EEB}"/>
              </a:ext>
            </a:extLst>
          </p:cNvPr>
          <p:cNvSpPr>
            <a:spLocks noGrp="1"/>
          </p:cNvSpPr>
          <p:nvPr>
            <p:ph type="body" idx="1"/>
          </p:nvPr>
        </p:nvSpPr>
        <p:spPr>
          <a:xfrm>
            <a:off x="300085" y="1078192"/>
            <a:ext cx="11591830" cy="5235798"/>
          </a:xfrm>
        </p:spPr>
        <p:txBody>
          <a:bodyPr>
            <a:normAutofit fontScale="92500" lnSpcReduction="10000"/>
          </a:bodyPr>
          <a:lstStyle/>
          <a:p>
            <a:r>
              <a:rPr lang="en-IN" sz="2200" b="1" dirty="0"/>
              <a:t>Hypothesis Testing</a:t>
            </a:r>
          </a:p>
          <a:p>
            <a:r>
              <a:rPr lang="en-IN" sz="1900" b="1" dirty="0"/>
              <a:t>Business Hypothesis</a:t>
            </a:r>
          </a:p>
          <a:p>
            <a:r>
              <a:rPr lang="en-IN" b="1" dirty="0"/>
              <a:t>Null Hypothesis (H₀):</a:t>
            </a:r>
            <a:br>
              <a:rPr lang="en-IN" dirty="0"/>
            </a:br>
            <a:r>
              <a:rPr lang="en-IN" dirty="0"/>
              <a:t>There is no significant difference in average sales between different product categories.</a:t>
            </a:r>
          </a:p>
          <a:p>
            <a:r>
              <a:rPr lang="en-IN" b="1" dirty="0"/>
              <a:t>Alternative Hypothesis (H₁):</a:t>
            </a:r>
            <a:br>
              <a:rPr lang="en-IN" dirty="0"/>
            </a:br>
            <a:r>
              <a:rPr lang="en-IN" dirty="0"/>
              <a:t>There is a significant difference in average sales between product categories.</a:t>
            </a:r>
          </a:p>
          <a:p>
            <a:r>
              <a:rPr lang="en-IN" b="1" dirty="0"/>
              <a:t>Statistical Test Used</a:t>
            </a:r>
          </a:p>
          <a:p>
            <a:pPr marL="285750" indent="-285750">
              <a:buFont typeface="Arial" panose="020B0604020202020204" pitchFamily="34" charset="0"/>
              <a:buChar char="•"/>
            </a:pPr>
            <a:r>
              <a:rPr lang="en-IN" dirty="0"/>
              <a:t>Independent T-Test (or Chi-Square Test) </a:t>
            </a:r>
          </a:p>
          <a:p>
            <a:r>
              <a:rPr lang="en-IN" b="1" dirty="0"/>
              <a:t>Results</a:t>
            </a:r>
          </a:p>
          <a:p>
            <a:pPr marL="285750" indent="-285750">
              <a:buFont typeface="Arial" panose="020B0604020202020204" pitchFamily="34" charset="0"/>
              <a:buChar char="•"/>
            </a:pPr>
            <a:r>
              <a:rPr lang="en-IN" dirty="0"/>
              <a:t>Test Statistic: </a:t>
            </a:r>
            <a:r>
              <a:rPr lang="en-IN" i="1" dirty="0"/>
              <a:t>(Your value)</a:t>
            </a:r>
            <a:r>
              <a:rPr lang="en-IN" dirty="0"/>
              <a:t> </a:t>
            </a:r>
          </a:p>
          <a:p>
            <a:pPr marL="285750" indent="-285750">
              <a:buFont typeface="Arial" panose="020B0604020202020204" pitchFamily="34" charset="0"/>
              <a:buChar char="•"/>
            </a:pPr>
            <a:r>
              <a:rPr lang="en-IN" dirty="0"/>
              <a:t>P-value: </a:t>
            </a:r>
            <a:r>
              <a:rPr lang="en-IN" i="1" dirty="0"/>
              <a:t>(Your value)</a:t>
            </a:r>
            <a:r>
              <a:rPr lang="en-IN" dirty="0"/>
              <a:t> </a:t>
            </a:r>
          </a:p>
          <a:p>
            <a:pPr marL="285750" indent="-285750">
              <a:buFont typeface="Arial" panose="020B0604020202020204" pitchFamily="34" charset="0"/>
              <a:buChar char="•"/>
            </a:pPr>
            <a:r>
              <a:rPr lang="en-IN" b="1" dirty="0"/>
              <a:t>Interpretation</a:t>
            </a:r>
          </a:p>
          <a:p>
            <a:r>
              <a:rPr lang="en-IN" dirty="0"/>
              <a:t>If </a:t>
            </a:r>
            <a:r>
              <a:rPr lang="en-IN" b="1" dirty="0"/>
              <a:t>P-value &lt; 0.05</a:t>
            </a:r>
            <a:endParaRPr lang="en-IN" dirty="0"/>
          </a:p>
          <a:p>
            <a:r>
              <a:rPr lang="en-IN" dirty="0"/>
              <a:t>✔ Reject Null Hypothesis</a:t>
            </a:r>
          </a:p>
          <a:p>
            <a:r>
              <a:rPr lang="en-IN" dirty="0"/>
              <a:t>This indicates a statistically significant difference in sales between product categories.</a:t>
            </a:r>
          </a:p>
          <a:p>
            <a:endParaRPr lang="en-IN" dirty="0"/>
          </a:p>
        </p:txBody>
      </p:sp>
    </p:spTree>
    <p:extLst>
      <p:ext uri="{BB962C8B-B14F-4D97-AF65-F5344CB8AC3E}">
        <p14:creationId xmlns:p14="http://schemas.microsoft.com/office/powerpoint/2010/main" val="4131424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DF288-C100-70A9-5929-CF2089F96FBD}"/>
              </a:ext>
            </a:extLst>
          </p:cNvPr>
          <p:cNvSpPr>
            <a:spLocks noGrp="1"/>
          </p:cNvSpPr>
          <p:nvPr>
            <p:ph type="title"/>
          </p:nvPr>
        </p:nvSpPr>
        <p:spPr>
          <a:xfrm>
            <a:off x="3235340" y="-1112154"/>
            <a:ext cx="8596668" cy="2595460"/>
          </a:xfrm>
        </p:spPr>
        <p:txBody>
          <a:bodyPr/>
          <a:lstStyle/>
          <a:p>
            <a:r>
              <a:rPr lang="en-IN" b="1" dirty="0"/>
              <a:t>Recommendations</a:t>
            </a:r>
            <a:br>
              <a:rPr lang="en-IN" b="1" dirty="0"/>
            </a:br>
            <a:endParaRPr lang="en-IN" dirty="0"/>
          </a:p>
        </p:txBody>
      </p:sp>
      <p:sp>
        <p:nvSpPr>
          <p:cNvPr id="3" name="Text Placeholder 2">
            <a:extLst>
              <a:ext uri="{FF2B5EF4-FFF2-40B4-BE49-F238E27FC236}">
                <a16:creationId xmlns:a16="http://schemas.microsoft.com/office/drawing/2014/main" id="{C79B140F-12D5-BC48-D9A3-B3A31A46C313}"/>
              </a:ext>
            </a:extLst>
          </p:cNvPr>
          <p:cNvSpPr>
            <a:spLocks noGrp="1"/>
          </p:cNvSpPr>
          <p:nvPr>
            <p:ph type="body" idx="1"/>
          </p:nvPr>
        </p:nvSpPr>
        <p:spPr>
          <a:xfrm>
            <a:off x="654186" y="1483306"/>
            <a:ext cx="11406634" cy="5253160"/>
          </a:xfrm>
        </p:spPr>
        <p:txBody>
          <a:bodyPr>
            <a:normAutofit/>
          </a:bodyPr>
          <a:lstStyle/>
          <a:p>
            <a:r>
              <a:rPr lang="en-IN" sz="2000" b="1" dirty="0"/>
              <a:t>Business Recommendations</a:t>
            </a:r>
          </a:p>
          <a:p>
            <a:r>
              <a:rPr lang="en-IN" dirty="0"/>
              <a:t>Based on the analysis, the following recommendations are suggested:</a:t>
            </a:r>
          </a:p>
          <a:p>
            <a:pPr marL="285750" indent="-285750">
              <a:buFont typeface="Wingdings" panose="05000000000000000000" pitchFamily="2" charset="2"/>
              <a:buChar char="q"/>
            </a:pPr>
            <a:r>
              <a:rPr lang="en-IN" dirty="0"/>
              <a:t>Increase inventory of best-selling products. </a:t>
            </a:r>
          </a:p>
          <a:p>
            <a:pPr marL="285750" indent="-285750">
              <a:buFont typeface="Wingdings" panose="05000000000000000000" pitchFamily="2" charset="2"/>
              <a:buChar char="q"/>
            </a:pPr>
            <a:r>
              <a:rPr lang="en-IN" dirty="0"/>
              <a:t>Introduce promotional offers during low-sales periods. </a:t>
            </a:r>
          </a:p>
          <a:p>
            <a:pPr marL="285750" indent="-285750">
              <a:buFont typeface="Wingdings" panose="05000000000000000000" pitchFamily="2" charset="2"/>
              <a:buChar char="q"/>
            </a:pPr>
            <a:r>
              <a:rPr lang="en-IN" dirty="0"/>
              <a:t>Improve marketing for low-performing items. </a:t>
            </a:r>
          </a:p>
          <a:p>
            <a:pPr marL="285750" indent="-285750">
              <a:buFont typeface="Wingdings" panose="05000000000000000000" pitchFamily="2" charset="2"/>
              <a:buChar char="q"/>
            </a:pPr>
            <a:r>
              <a:rPr lang="en-IN" dirty="0"/>
              <a:t>Encourage digital payments through discounts. </a:t>
            </a:r>
          </a:p>
          <a:p>
            <a:pPr marL="285750" indent="-285750">
              <a:buFont typeface="Wingdings" panose="05000000000000000000" pitchFamily="2" charset="2"/>
              <a:buChar char="q"/>
            </a:pPr>
            <a:r>
              <a:rPr lang="en-IN" dirty="0"/>
              <a:t>Use customer purchasing trends for future planning. </a:t>
            </a:r>
          </a:p>
          <a:p>
            <a:pPr marL="285750" indent="-285750">
              <a:buFont typeface="Wingdings" panose="05000000000000000000" pitchFamily="2" charset="2"/>
              <a:buChar char="q"/>
            </a:pPr>
            <a:r>
              <a:rPr lang="en-IN" dirty="0"/>
              <a:t>Monitor monthly sales using dashboards. </a:t>
            </a:r>
          </a:p>
          <a:p>
            <a:endParaRPr lang="en-IN" dirty="0"/>
          </a:p>
          <a:p>
            <a:r>
              <a:rPr lang="en-IN" dirty="0"/>
              <a:t>These recommendations can improve revenue, customer satisfaction, and operational efficiency.</a:t>
            </a:r>
          </a:p>
          <a:p>
            <a:endParaRPr lang="en-IN" dirty="0"/>
          </a:p>
        </p:txBody>
      </p:sp>
    </p:spTree>
    <p:extLst>
      <p:ext uri="{BB962C8B-B14F-4D97-AF65-F5344CB8AC3E}">
        <p14:creationId xmlns:p14="http://schemas.microsoft.com/office/powerpoint/2010/main" val="2805087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2AA4A-05CB-9339-C36E-D06BCA12BCAD}"/>
              </a:ext>
            </a:extLst>
          </p:cNvPr>
          <p:cNvSpPr>
            <a:spLocks noGrp="1"/>
          </p:cNvSpPr>
          <p:nvPr>
            <p:ph type="title"/>
          </p:nvPr>
        </p:nvSpPr>
        <p:spPr>
          <a:xfrm>
            <a:off x="4149740" y="-1788650"/>
            <a:ext cx="8596668" cy="2595460"/>
          </a:xfrm>
        </p:spPr>
        <p:txBody>
          <a:bodyPr/>
          <a:lstStyle/>
          <a:p>
            <a:r>
              <a:rPr lang="en-IN" dirty="0"/>
              <a:t>Conclusion</a:t>
            </a:r>
          </a:p>
        </p:txBody>
      </p:sp>
      <p:sp>
        <p:nvSpPr>
          <p:cNvPr id="3" name="Text Placeholder 2">
            <a:extLst>
              <a:ext uri="{FF2B5EF4-FFF2-40B4-BE49-F238E27FC236}">
                <a16:creationId xmlns:a16="http://schemas.microsoft.com/office/drawing/2014/main" id="{1221A24B-3867-153F-1E29-447459E8411A}"/>
              </a:ext>
            </a:extLst>
          </p:cNvPr>
          <p:cNvSpPr>
            <a:spLocks noGrp="1"/>
          </p:cNvSpPr>
          <p:nvPr>
            <p:ph type="body" idx="1"/>
          </p:nvPr>
        </p:nvSpPr>
        <p:spPr>
          <a:xfrm>
            <a:off x="237497" y="1182364"/>
            <a:ext cx="11730726" cy="5675636"/>
          </a:xfrm>
        </p:spPr>
        <p:txBody>
          <a:bodyPr>
            <a:normAutofit/>
          </a:bodyPr>
          <a:lstStyle/>
          <a:p>
            <a:r>
              <a:rPr lang="en-IN" sz="2000" b="1" dirty="0"/>
              <a:t>Conclusion</a:t>
            </a:r>
          </a:p>
          <a:p>
            <a:r>
              <a:rPr lang="en-IN" dirty="0"/>
              <a:t>The analysis of the Cleaned Cafe Sales Dataset provided valuable insights into customer </a:t>
            </a:r>
            <a:r>
              <a:rPr lang="en-IN" dirty="0" err="1"/>
              <a:t>behavior</a:t>
            </a:r>
            <a:r>
              <a:rPr lang="en-IN" dirty="0"/>
              <a:t>, product performance, and sales trends. Data visualization and statistical validation confirmed important business findings and supported data-driven decision-making.</a:t>
            </a:r>
          </a:p>
          <a:p>
            <a:r>
              <a:rPr lang="en-IN" sz="2000" b="1" dirty="0"/>
              <a:t>Project Outcomes</a:t>
            </a:r>
          </a:p>
          <a:p>
            <a:pPr marL="285750" indent="-285750">
              <a:buFont typeface="Arial" panose="020B0604020202020204" pitchFamily="34" charset="0"/>
              <a:buChar char="•"/>
            </a:pPr>
            <a:r>
              <a:rPr lang="en-IN" dirty="0"/>
              <a:t>Cleaned and </a:t>
            </a:r>
            <a:r>
              <a:rPr lang="en-IN" dirty="0" err="1"/>
              <a:t>analyzed</a:t>
            </a:r>
            <a:r>
              <a:rPr lang="en-IN" dirty="0"/>
              <a:t> sales data </a:t>
            </a:r>
          </a:p>
          <a:p>
            <a:pPr marL="285750" indent="-285750">
              <a:buFont typeface="Arial" panose="020B0604020202020204" pitchFamily="34" charset="0"/>
              <a:buChar char="•"/>
            </a:pPr>
            <a:r>
              <a:rPr lang="en-IN" dirty="0"/>
              <a:t>Built insightful visualizations </a:t>
            </a:r>
          </a:p>
          <a:p>
            <a:pPr marL="285750" indent="-285750">
              <a:buFont typeface="Arial" panose="020B0604020202020204" pitchFamily="34" charset="0"/>
              <a:buChar char="•"/>
            </a:pPr>
            <a:r>
              <a:rPr lang="en-IN" dirty="0"/>
              <a:t>Developed an interactive dashboard </a:t>
            </a:r>
          </a:p>
          <a:p>
            <a:pPr marL="285750" indent="-285750">
              <a:buFont typeface="Arial" panose="020B0604020202020204" pitchFamily="34" charset="0"/>
              <a:buChar char="•"/>
            </a:pPr>
            <a:r>
              <a:rPr lang="en-IN" dirty="0"/>
              <a:t>Performed statistical validation </a:t>
            </a:r>
          </a:p>
          <a:p>
            <a:pPr marL="285750" indent="-285750">
              <a:buFont typeface="Arial" panose="020B0604020202020204" pitchFamily="34" charset="0"/>
              <a:buChar char="•"/>
            </a:pPr>
            <a:r>
              <a:rPr lang="en-IN" dirty="0"/>
              <a:t>Generated practical business recommendations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algn="ctr"/>
            <a:r>
              <a:rPr lang="en-IN" sz="3200" b="1" dirty="0"/>
              <a:t>Thank You</a:t>
            </a:r>
          </a:p>
          <a:p>
            <a:endParaRPr lang="en-IN" dirty="0"/>
          </a:p>
        </p:txBody>
      </p:sp>
    </p:spTree>
    <p:extLst>
      <p:ext uri="{BB962C8B-B14F-4D97-AF65-F5344CB8AC3E}">
        <p14:creationId xmlns:p14="http://schemas.microsoft.com/office/powerpoint/2010/main" val="337008201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35</TotalTime>
  <Words>714</Words>
  <Application>Microsoft Office PowerPoint</Application>
  <PresentationFormat>Widescreen</PresentationFormat>
  <Paragraphs>134</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Arial</vt:lpstr>
      <vt:lpstr>Courier New</vt:lpstr>
      <vt:lpstr>Trebuchet MS</vt:lpstr>
      <vt:lpstr>Wingdings</vt:lpstr>
      <vt:lpstr>Wingdings 3</vt:lpstr>
      <vt:lpstr>Facet</vt:lpstr>
      <vt:lpstr>Cafe Sales Data Analysis </vt:lpstr>
      <vt:lpstr>Project Objective </vt:lpstr>
      <vt:lpstr>Dataset Overview</vt:lpstr>
      <vt:lpstr>Data Cleaning Process </vt:lpstr>
      <vt:lpstr>Exploratory Data Analysis (EDA) </vt:lpstr>
      <vt:lpstr>Dashboard Overview</vt:lpstr>
      <vt:lpstr>Key Business Insights</vt:lpstr>
      <vt:lpstr>Statistical Validation</vt:lpstr>
      <vt:lpstr>Recommendations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MALLEBOINA KRANTHI</dc:creator>
  <cp:lastModifiedBy>MALLEBOINA KRANTHI</cp:lastModifiedBy>
  <cp:revision>1</cp:revision>
  <dcterms:created xsi:type="dcterms:W3CDTF">2026-07-19T10:26:51Z</dcterms:created>
  <dcterms:modified xsi:type="dcterms:W3CDTF">2026-07-19T11:02:01Z</dcterms:modified>
</cp:coreProperties>
</file>